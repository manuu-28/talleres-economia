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74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breve. Presentar al equipo y anunciar que esta versión reemplaza los gráficos estáticos por el tablero interactivo de Power BI construido para la parte 2 del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Plantear la pregunta base del taller y anunciar el hilo de la presentación: cuatro bloques de evidencia que llevan a la conclusión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Insertar aquí una captura de la página del tablero Power BI que compara ingreso mensual mediano (mes bueno / mes malo) entre negocios con y sin uso de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tablero filtrado por actividad. Recalcar que se corrigió el cálculo para tratar actG1..actG11 como indicadores que pueden superponerse, no como una sola categoría (actividad1).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va la página del tablero que muestra el heatmap municipio x actividad y/o el scatter de penetración vs. población. Explicar brevemente el join por código DIVIPOLA entre Tenderos y TerriData.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Combinar las dos páginas del tablero (razones de no uso y usos actuales) para argumentar que las capacitaciones deben apuntar a percepción de utilidad y a pagos digitales, no a alfabetización digital básica.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recomendación: capacitaciones focalizadas en tiendas, en generar percepción de utilidad y en pagos digitales, priorizando municipios con menor penetración. Invitar a explorar el tablero Power BI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2B1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internet y penetración digital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micronegocios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E8C9D3"/>
                </a:solidFill>
              </a:rPr>
              <a:t>Análisis</a:t>
            </a:r>
            <a:r>
              <a:rPr lang="en-US" sz="1600" i="1" dirty="0">
                <a:solidFill>
                  <a:srgbClr val="E8C9D3"/>
                </a:solidFill>
              </a:rPr>
              <a:t> </a:t>
            </a:r>
            <a:r>
              <a:rPr lang="en-US" sz="1600" i="1" dirty="0" err="1">
                <a:solidFill>
                  <a:srgbClr val="E8C9D3"/>
                </a:solidFill>
              </a:rPr>
              <a:t>estadístico</a:t>
            </a:r>
            <a:r>
              <a:rPr lang="en-US" sz="1600" i="1" dirty="0">
                <a:solidFill>
                  <a:srgbClr val="E8C9D3"/>
                </a:solidFill>
              </a:rPr>
              <a:t> – Power BI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Derek Gaona   ·   Santiago Martínez   ·   Mariana Muñoz   ·   Manuela Vergara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 Int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dirty="0">
                <a:solidFill>
                  <a:srgbClr val="C9A227"/>
                </a:solidFill>
              </a:rPr>
              <a:t>INTRODUCCIÓN</a:t>
            </a:r>
            <a:endParaRPr lang="es-CO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6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mide este análisis y de dónde salen los datos</a:t>
            </a:r>
            <a:endParaRPr lang="es-CO" sz="2600" dirty="0"/>
          </a:p>
        </p:txBody>
      </p:sp>
      <p:sp>
        <p:nvSpPr>
          <p:cNvPr id="4" name="Lead paragraph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dirty="0">
                <a:solidFill>
                  <a:srgbClr val="2B1B1F"/>
                </a:solidFill>
              </a:rPr>
              <a:t>Partimos de una encuesta a micronegocios para entender si el uso de internet se traduce en mejores resultados económicos, y para quién.</a:t>
            </a:r>
            <a:endParaRPr lang="es-CO" sz="1500" dirty="0"/>
          </a:p>
        </p:txBody>
      </p:sp>
      <p:sp>
        <p:nvSpPr>
          <p:cNvPr id="5" name="Dot1"/>
          <p:cNvSpPr/>
          <p:nvPr/>
        </p:nvSpPr>
        <p:spPr>
          <a:xfrm>
            <a:off x="548640" y="2807335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Bullet1"/>
          <p:cNvSpPr txBox="1"/>
          <p:nvPr/>
        </p:nvSpPr>
        <p:spPr>
          <a:xfrm>
            <a:off x="914400" y="2734183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dirty="0">
                <a:solidFill>
                  <a:srgbClr val="2B1B1F"/>
                </a:solidFill>
              </a:rPr>
              <a:t>La base: </a:t>
            </a:r>
            <a:r>
              <a:rPr lang="es-CO" sz="1400" dirty="0">
                <a:solidFill>
                  <a:srgbClr val="6B6B6B"/>
                </a:solidFill>
              </a:rPr>
              <a:t>cada fila es un micronegocio, con si usa o no internet, su ingreso mensual en meses buenos y malos, su municipio y su(s) actividad(es) económica(s).</a:t>
            </a:r>
            <a:endParaRPr lang="es-CO" sz="1400" dirty="0"/>
          </a:p>
        </p:txBody>
      </p:sp>
      <p:sp>
        <p:nvSpPr>
          <p:cNvPr id="7" name="Dot2"/>
          <p:cNvSpPr/>
          <p:nvPr/>
        </p:nvSpPr>
        <p:spPr>
          <a:xfrm>
            <a:off x="548640" y="3583305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Bullet2"/>
          <p:cNvSpPr txBox="1"/>
          <p:nvPr/>
        </p:nvSpPr>
        <p:spPr>
          <a:xfrm>
            <a:off x="914400" y="3510153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dirty="0">
                <a:solidFill>
                  <a:srgbClr val="2B1B1F"/>
                </a:solidFill>
              </a:rPr>
              <a:t>La actividad no es única: </a:t>
            </a:r>
            <a:r>
              <a:rPr lang="es-CO" sz="1400" dirty="0">
                <a:solidFill>
                  <a:srgbClr val="6B6B6B"/>
                </a:solidFill>
              </a:rPr>
              <a:t>cada negocio puede marcar varias actividades a la vez (actG1-actG11), así que se analizan como dummies independientes, no como categorías excluyentes.</a:t>
            </a:r>
            <a:endParaRPr lang="es-CO" sz="1400" dirty="0"/>
          </a:p>
        </p:txBody>
      </p:sp>
      <p:sp>
        <p:nvSpPr>
          <p:cNvPr id="9" name="Dot3"/>
          <p:cNvSpPr/>
          <p:nvPr/>
        </p:nvSpPr>
        <p:spPr>
          <a:xfrm>
            <a:off x="548640" y="4359275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Bullet3"/>
          <p:cNvSpPr txBox="1"/>
          <p:nvPr/>
        </p:nvSpPr>
        <p:spPr>
          <a:xfrm>
            <a:off x="914400" y="4286123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dirty="0">
                <a:solidFill>
                  <a:srgbClr val="2B1B1F"/>
                </a:solidFill>
              </a:rPr>
              <a:t>El cruce territorial: </a:t>
            </a:r>
            <a:r>
              <a:rPr lang="es-CO" sz="1400" dirty="0">
                <a:solidFill>
                  <a:srgbClr val="6B6B6B"/>
                </a:solidFill>
              </a:rPr>
              <a:t>el municipio (código DIVIPOLA) se une a la población municipal de TerriData, para ver si la penetración de internet depende del tamaño del municipio.</a:t>
            </a:r>
            <a:endParaRPr lang="es-CO" sz="1400" dirty="0"/>
          </a:p>
        </p:txBody>
      </p:sp>
      <p:sp>
        <p:nvSpPr>
          <p:cNvPr id="11" name="Dot4"/>
          <p:cNvSpPr/>
          <p:nvPr/>
        </p:nvSpPr>
        <p:spPr>
          <a:xfrm>
            <a:off x="548640" y="5135245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Bullet4"/>
          <p:cNvSpPr txBox="1"/>
          <p:nvPr/>
        </p:nvSpPr>
        <p:spPr>
          <a:xfrm>
            <a:off x="914400" y="5062093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dirty="0">
                <a:solidFill>
                  <a:srgbClr val="2B1B1F"/>
                </a:solidFill>
              </a:rPr>
              <a:t>El resultado: </a:t>
            </a:r>
            <a:r>
              <a:rPr lang="es-CO" sz="1400" dirty="0">
                <a:solidFill>
                  <a:srgbClr val="6B6B6B"/>
                </a:solidFill>
              </a:rPr>
              <a:t>tras limpiar y consolidar la unidad de análisis (municipio × actividad), todo se visualiza en un tablero de Power BI (tablero_taller4.pbix), base de los gráficos siguientes.</a:t>
            </a:r>
            <a:endParaRPr lang="es-CO" sz="1400" dirty="0"/>
          </a:p>
        </p:txBody>
      </p:sp>
      <p:sp>
        <p:nvSpPr>
          <p:cNvPr id="13" name="PageNum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dirty="0">
                <a:solidFill>
                  <a:srgbClr val="6B6B6B"/>
                </a:solidFill>
              </a:rPr>
              <a:t>2</a:t>
            </a:r>
            <a:endParaRPr lang="es-CO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7F2F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1B1F"/>
                </a:solidFill>
              </a:rPr>
              <a:t>¿Vale la pena invertir en capacitaciones digitales para los micronegocios?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7F2F3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743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Ingreso mensual según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uso de internet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560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7F2F3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743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Tasa de uso por tipo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de actividad económica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7F2F3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743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Penetración por municipio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y relación con población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2560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7F2F3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2743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Razones para no usar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B1F"/>
                </a:solidFill>
              </a:rPr>
              <a:t>internet en el negocio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uso de internet se asocia a mayor ingreso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1B1F"/>
                </a:solidFill>
              </a:rPr>
              <a:t>Más del 60% de los negocios ya utilizan internet. Quienes lo usan reportan ingresos hasta 2.5x más altos, tanto en meses buenos como malos, y 15 puntos más de formalidad.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7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383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</a:rPr>
              <a:t>2.5x  </a:t>
            </a:r>
            <a:r>
              <a:rPr lang="en-US" sz="1300" dirty="0">
                <a:solidFill>
                  <a:srgbClr val="2B1B1F"/>
                </a:solidFill>
              </a:rPr>
              <a:t>más ingreso mensual mediano</a:t>
            </a:r>
            <a:endParaRPr lang="en-US" sz="2600" dirty="0"/>
          </a:p>
          <a:p>
            <a:pPr marL="0" indent="0">
              <a:buNone/>
            </a:pPr>
            <a:r>
              <a:rPr lang="en-US" sz="1300" dirty="0">
                <a:solidFill>
                  <a:srgbClr val="2B1B1F"/>
                </a:solidFill>
              </a:rPr>
              <a:t>para negocios que usan internet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9D3D5"/>
            </a:solidFill>
          </a:ln>
        </p:spPr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4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A1D284F-B0A2-4433-A8E7-CB93EE30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74" y="1399701"/>
            <a:ext cx="5036372" cy="4150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788152"/>
            <a:ext cx="5577840" cy="180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850" i="1">
                <a:solidFill>
                  <a:srgbClr val="6B6B6B"/>
                </a:solidFill>
              </a:rPr>
              <a:t>Fuente: tablero Power BI (tablero_taller4.pbix)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tipo de actividad importa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1B1F"/>
                </a:solidFill>
              </a:rPr>
              <a:t>Con 38.6% de tasa de uso, las tiendas (actG1) están muy por debajo del promedio del resto de actividades. Como cada negocio puede combinar varias actividades (actG1-actG11 no son excluyentes), la comparación correcta se hace dummy por dummy, no por categoría única.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7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749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</a:rPr>
              <a:t>38.6%  </a:t>
            </a:r>
            <a:r>
              <a:rPr lang="en-US" sz="1300" dirty="0">
                <a:solidFill>
                  <a:srgbClr val="2B1B1F"/>
                </a:solidFill>
              </a:rPr>
              <a:t>de las tiendas (actG1) usan internet,</a:t>
            </a:r>
            <a:endParaRPr lang="en-US" sz="2600" dirty="0"/>
          </a:p>
          <a:p>
            <a:pPr marL="0" indent="0">
              <a:buNone/>
            </a:pPr>
            <a:r>
              <a:rPr lang="en-US" sz="1300" dirty="0">
                <a:solidFill>
                  <a:srgbClr val="2B1B1F"/>
                </a:solidFill>
              </a:rPr>
              <a:t>frente a 60-80% en otras actividades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9D3D5"/>
            </a:solidFill>
          </a:ln>
        </p:spPr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Taller 4 (parte b) · Uso de internet en micronegocios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5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EBD2345-B310-4EA6-B86A-FE6D1EAA6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430" y="1798086"/>
            <a:ext cx="4725059" cy="33532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788152"/>
            <a:ext cx="5577840" cy="180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850" i="1">
                <a:solidFill>
                  <a:srgbClr val="6B6B6B"/>
                </a:solidFill>
              </a:rPr>
              <a:t>Fuente: tablero Power BI (tablero_taller4.pbix)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también es territorial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1B1F"/>
                </a:solidFill>
              </a:rPr>
              <a:t>Al cruzar municipio (código DIVIPOLA) y actividad, la penetración de internet varía sustancialmente entre municipios para una misma actividad. Uniendo la población municipal (TerriData) a esta base, se puede evaluar si los municipios más pequeños son los que más rezago muestran.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7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931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</a:rPr>
              <a:t>10 municipios × 11 actividades  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B1B1F"/>
                </a:solidFill>
              </a:rPr>
              <a:t>unidad de análisis corregida, unida a población municipal por DIVIPOLA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35040" y="968188"/>
            <a:ext cx="5760720" cy="4792532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9D3D5"/>
            </a:solidFill>
          </a:ln>
        </p:spPr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6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8A15A28-40CA-4912-9718-73EBB9F9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023" y="2073537"/>
            <a:ext cx="5381337" cy="22162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5788152"/>
            <a:ext cx="5760720" cy="180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850" i="1">
                <a:solidFill>
                  <a:srgbClr val="6B6B6B"/>
                </a:solidFill>
              </a:rPr>
              <a:t>Fuente: tablero Power BI (tablero_taller4.pbix)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barrera es percepción, la oportunidad son los pagos digitales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1B1F"/>
                </a:solidFill>
              </a:rPr>
              <a:t>El 69.1% de quienes no usan internet dice que no lo considera necesario, no que no sepa usarlo. Y entre quienes ya lo usan, solo el 5.7% lo destina a banca o pagos digitales: la categoría con más espacio de crecimiento.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7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931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</a:rPr>
              <a:t>69.1%  </a:t>
            </a:r>
            <a:r>
              <a:rPr lang="en-US" sz="1300" dirty="0">
                <a:solidFill>
                  <a:srgbClr val="2B1B1F"/>
                </a:solidFill>
              </a:rPr>
              <a:t>no lo cree necesario   |   </a:t>
            </a:r>
            <a:r>
              <a:rPr lang="en-US" sz="2400" b="1" dirty="0">
                <a:solidFill>
                  <a:srgbClr val="C9A227"/>
                </a:solidFill>
              </a:rPr>
              <a:t>5.7%  </a:t>
            </a:r>
            <a:r>
              <a:rPr lang="en-US" sz="1300" dirty="0">
                <a:solidFill>
                  <a:srgbClr val="2B1B1F"/>
                </a:solidFill>
              </a:rPr>
              <a:t>usa banca/pagos digitales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852160" y="735106"/>
            <a:ext cx="6126480" cy="5897174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9D3D5"/>
            </a:solidFill>
          </a:ln>
        </p:spPr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Taller 4 (parte b) · Uso de internet en micronegocios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7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120BC9E-1A89-477E-B275-98496A9C4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271" y="846567"/>
            <a:ext cx="4301736" cy="276531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16527BF-95C6-4485-9F19-E38F00A9A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271" y="3791383"/>
            <a:ext cx="4592289" cy="27653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2160" y="6659712"/>
            <a:ext cx="6126480" cy="180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850" i="1">
                <a:solidFill>
                  <a:srgbClr val="6B6B6B"/>
                </a:solidFill>
              </a:rPr>
              <a:t>Fuente: tablero Power BI (tablero_taller4.pbix)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</a:rPr>
              <a:t>CONCLUSIÓN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vale la pena invertir, pero no en capacitaciones genéricas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6771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Priorizar tiendas: </a:t>
            </a:r>
            <a:r>
              <a:rPr lang="en-US" sz="1500" dirty="0">
                <a:solidFill>
                  <a:srgbClr val="E8D9DD"/>
                </a:solidFill>
              </a:rPr>
              <a:t>el segmento más grande y con menor tasa de uso (38.6%).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154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Atacar la percepción: </a:t>
            </a:r>
            <a:r>
              <a:rPr lang="en-US" sz="1500" dirty="0">
                <a:solidFill>
                  <a:srgbClr val="E8D9DD"/>
                </a:solidFill>
              </a:rPr>
              <a:t>69.1% no usa internet porque no lo cree necesario, no por falta de habilidad.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114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Enfocar el contenido: </a:t>
            </a:r>
            <a:r>
              <a:rPr lang="en-US" sz="1500" dirty="0">
                <a:solidFill>
                  <a:srgbClr val="E8D9DD"/>
                </a:solidFill>
              </a:rPr>
              <a:t>en banca y pagos digitales (5.7% de adopción), el uso con más espacio de crecimiento.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14807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Priorizar territorios: </a:t>
            </a:r>
            <a:r>
              <a:rPr lang="en-US" sz="1500" dirty="0">
                <a:solidFill>
                  <a:srgbClr val="E8D9DD"/>
                </a:solidFill>
              </a:rPr>
              <a:t>los municipios más pequeños y con menor penetración, usando el cruce por DIVIPOLA con TerriData.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921</Words>
  <Application>Microsoft Office PowerPoint</Application>
  <PresentationFormat>Panorámica</PresentationFormat>
  <Paragraphs>72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Mariana Muñoz Gamboa</cp:lastModifiedBy>
  <cp:revision>4</cp:revision>
  <dcterms:created xsi:type="dcterms:W3CDTF">2026-08-31T03:38:48Z</dcterms:created>
  <dcterms:modified xsi:type="dcterms:W3CDTF">2026-08-31T05:04:16Z</dcterms:modified>
</cp:coreProperties>
</file>