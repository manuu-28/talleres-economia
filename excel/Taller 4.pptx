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riana\Downloads\Graficas_Internet_Microempresa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s-ES"/>
              <a:t>Ingreso mensual mediano según uso de internet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'1_Ingreso_x_Internet'!$B$3</c:f>
              <c:strCache>
                <c:ptCount val="1"/>
                <c:pt idx="0">
                  <c:v>No usa internet ($M COP)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-2.7065815672995219E-2"/>
                  <c:y val="0.18552368795804244"/>
                </c:manualLayout>
              </c:layout>
              <c:tx>
                <c:rich>
                  <a:bodyPr/>
                  <a:lstStyle/>
                  <a:p>
                    <a:fld id="{A861839A-98A3-45BB-8305-5EC0057A6A36}" type="SERIESNAME">
                      <a:rPr lang="es-ES">
                        <a:solidFill>
                          <a:schemeClr val="tx1"/>
                        </a:solidFill>
                      </a:rPr>
                      <a:pPr/>
                      <a:t>[SERIES NAME]</a:t>
                    </a:fld>
                    <a:r>
                      <a:rPr lang="es-ES">
                        <a:solidFill>
                          <a:schemeClr val="tx1"/>
                        </a:solidFill>
                      </a:rPr>
                      <a:t>; </a:t>
                    </a:r>
                    <a:fld id="{7780B914-3C2C-4432-B350-55D429081F5C}" type="CATEGORYNAME">
                      <a:rPr lang="es-ES">
                        <a:solidFill>
                          <a:schemeClr val="tx1"/>
                        </a:solidFill>
                      </a:rPr>
                      <a:pPr/>
                      <a:t>[CATEGORY NAME]</a:t>
                    </a:fld>
                    <a:r>
                      <a:rPr lang="es-ES">
                        <a:solidFill>
                          <a:schemeClr val="tx1"/>
                        </a:solidFill>
                      </a:rPr>
                      <a:t>: </a:t>
                    </a:r>
                    <a:fld id="{9EF3CF71-6869-4D54-BE87-AF2CD1AB1AE9}" type="VALUE">
                      <a:rPr lang="es-E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s-ES">
                      <a:solidFill>
                        <a:schemeClr val="tx1"/>
                      </a:solidFill>
                    </a:endParaRPr>
                  </a:p>
                </c:rich>
              </c:tx>
              <c:dLblPos val="out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16555013380004818"/>
                      <c:h val="0.1469264121889942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DB92-4B0C-81A8-2C0A6B1167FA}"/>
                </c:ext>
              </c:extLst>
            </c:dLbl>
            <c:dLbl>
              <c:idx val="1"/>
              <c:layout>
                <c:manualLayout>
                  <c:x val="-1.2080051744473614E-2"/>
                  <c:y val="0.12119499149039617"/>
                </c:manualLayout>
              </c:layout>
              <c:tx>
                <c:rich>
                  <a:bodyPr/>
                  <a:lstStyle/>
                  <a:p>
                    <a:fld id="{5F5A2A1F-D744-4D29-9F2D-05BE41915CFA}" type="SERIESNAME">
                      <a:rPr lang="es-ES"/>
                      <a:pPr/>
                      <a:t>[SERIES NAME]</a:t>
                    </a:fld>
                    <a:r>
                      <a:rPr lang="es-ES" baseline="0"/>
                      <a:t>; </a:t>
                    </a:r>
                    <a:fld id="{C9BECDD4-BE32-41B5-BB7E-E2F893C63675}" type="CATEGORYNAME">
                      <a:rPr lang="es-ES" baseline="0"/>
                      <a:pPr/>
                      <a:t>[CATEGORY NAME]</a:t>
                    </a:fld>
                    <a:r>
                      <a:rPr lang="es-ES" baseline="0"/>
                      <a:t>: </a:t>
                    </a:r>
                    <a:fld id="{E1A8831A-BD5C-48B8-AD88-18802FAAACC5}" type="VALUE">
                      <a:rPr lang="es-ES" baseline="0"/>
                      <a:pPr/>
                      <a:t>[VALUE]</a:t>
                    </a:fld>
                    <a:endParaRPr lang="es-ES" baseline="0"/>
                  </a:p>
                </c:rich>
              </c:tx>
              <c:dLblPos val="out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B92-4B0C-81A8-2C0A6B1167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ES"/>
              </a:p>
            </c:txPr>
            <c:dLblPos val="inEnd"/>
            <c:showLegendKey val="1"/>
            <c:showVal val="1"/>
            <c:showCatName val="1"/>
            <c:showSerName val="1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'1_Ingreso_x_Internet'!$A$4:$A$5</c:f>
              <c:strCache>
                <c:ptCount val="2"/>
                <c:pt idx="0">
                  <c:v>Mes bueno</c:v>
                </c:pt>
                <c:pt idx="1">
                  <c:v>Mes malo</c:v>
                </c:pt>
              </c:strCache>
            </c:strRef>
          </c:cat>
          <c:val>
            <c:numRef>
              <c:f>'1_Ingreso_x_Internet'!$B$4:$B$5</c:f>
              <c:numCache>
                <c:formatCode>General</c:formatCode>
                <c:ptCount val="2"/>
                <c:pt idx="0">
                  <c:v>1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B92-4B0C-81A8-2C0A6B1167FA}"/>
            </c:ext>
          </c:extLst>
        </c:ser>
        <c:ser>
          <c:idx val="1"/>
          <c:order val="1"/>
          <c:tx>
            <c:strRef>
              <c:f>'1_Ingreso_x_Internet'!$C$3</c:f>
              <c:strCache>
                <c:ptCount val="1"/>
                <c:pt idx="0">
                  <c:v>Usa internet ($M COP)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757BD12-6134-4DB0-9D10-518101E55FE7}" type="SERIESNAME">
                      <a:rPr lang="es-ES"/>
                      <a:pPr/>
                      <a:t>[SERIES NAME]</a:t>
                    </a:fld>
                    <a:r>
                      <a:rPr lang="es-ES" baseline="0"/>
                      <a:t>; </a:t>
                    </a:r>
                    <a:fld id="{9D7D63B4-8C67-4E0B-94AA-BB496F397F2E}" type="CATEGORYNAME">
                      <a:rPr lang="es-ES" baseline="0"/>
                      <a:pPr/>
                      <a:t>[CATEGORY NAME]</a:t>
                    </a:fld>
                    <a:r>
                      <a:rPr lang="es-ES" baseline="0"/>
                      <a:t>: </a:t>
                    </a:r>
                    <a:fld id="{365170CF-E453-4B86-B056-DF8FE8647630}" type="VALUE">
                      <a:rPr lang="es-ES" baseline="0"/>
                      <a:pPr/>
                      <a:t>[VALUE]</a:t>
                    </a:fld>
                    <a:endParaRPr lang="es-ES" baseline="0"/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B92-4B0C-81A8-2C0A6B1167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C75CE0D-452C-42F7-9842-E2BEDB4B46D7}" type="SERIESNAME">
                      <a:rPr lang="es-ES"/>
                      <a:pPr/>
                      <a:t>[SERIES NAME]</a:t>
                    </a:fld>
                    <a:r>
                      <a:rPr lang="es-ES" baseline="0"/>
                      <a:t>; </a:t>
                    </a:r>
                    <a:fld id="{C505643C-CAF3-4015-BBC7-554C7C30D1A2}" type="CATEGORYNAME">
                      <a:rPr lang="es-ES" baseline="0"/>
                      <a:pPr/>
                      <a:t>[CATEGORY NAME]</a:t>
                    </a:fld>
                    <a:r>
                      <a:rPr lang="es-ES" baseline="0"/>
                      <a:t>: </a:t>
                    </a:r>
                    <a:fld id="{FD8A63CF-72C6-4545-8ADA-CA841CB84FFA}" type="VALUE">
                      <a:rPr lang="es-ES" baseline="0"/>
                      <a:pPr/>
                      <a:t>[VALUE]</a:t>
                    </a:fld>
                    <a:endParaRPr lang="es-ES" baseline="0"/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B92-4B0C-81A8-2C0A6B1167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ES"/>
              </a:p>
            </c:txPr>
            <c:dLblPos val="inEnd"/>
            <c:showLegendKey val="1"/>
            <c:showVal val="1"/>
            <c:showCatName val="1"/>
            <c:showSerName val="1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'1_Ingreso_x_Internet'!$A$4:$A$5</c:f>
              <c:strCache>
                <c:ptCount val="2"/>
                <c:pt idx="0">
                  <c:v>Mes bueno</c:v>
                </c:pt>
                <c:pt idx="1">
                  <c:v>Mes malo</c:v>
                </c:pt>
              </c:strCache>
            </c:strRef>
          </c:cat>
          <c:val>
            <c:numRef>
              <c:f>'1_Ingreso_x_Internet'!$C$4:$C$5</c:f>
              <c:numCache>
                <c:formatCode>General</c:formatCode>
                <c:ptCount val="2"/>
                <c:pt idx="0">
                  <c:v>2.5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B92-4B0C-81A8-2C0A6B1167F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2918582"/>
        <c:axId val="36723004"/>
      </c:barChart>
      <c:catAx>
        <c:axId val="1291858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36723004"/>
        <c:crosses val="autoZero"/>
        <c:auto val="1"/>
        <c:lblAlgn val="ctr"/>
        <c:lblOffset val="100"/>
        <c:noMultiLvlLbl val="0"/>
      </c:catAx>
      <c:valAx>
        <c:axId val="3672300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ES"/>
                  <a:t>Ingreso mediano (millones COP)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crossAx val="1291858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S"/>
        </a:p>
      </c:txPr>
    </c:legend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s-E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s-ES"/>
              <a:t>Tasa de uso de internet por tipo de actividad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'2_Internet_x_Actividad'!$B$3</c:f>
              <c:strCache>
                <c:ptCount val="1"/>
                <c:pt idx="0">
                  <c:v>Tasa de uso de internet (%)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563998B-178A-4354-A78C-B229B65811F5}" type="CATEGORYNAME">
                      <a:rPr lang="en-US">
                        <a:solidFill>
                          <a:schemeClr val="tx1"/>
                        </a:solidFill>
                      </a:rPr>
                      <a:pPr/>
                      <a:t>[CATEGORY NAME]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: 38,6%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A52-4709-A12B-7EE1DD395DE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6D2D69-8557-4A00-8D61-6036C0B0249E}" type="CATEGORYNAME">
                      <a:rPr lang="en-US">
                        <a:solidFill>
                          <a:schemeClr val="tx1"/>
                        </a:solidFill>
                      </a:rPr>
                      <a:pPr/>
                      <a:t>[CATEGORY NAME]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: 61,6%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A52-4709-A12B-7EE1DD395DE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8B90DFEF-7C5B-473E-A61A-1B1401E76BEA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572EEF54-3476-4963-9D0E-F6764C57A836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A52-4709-A12B-7EE1DD395DE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C569C7B1-05F4-42F9-A340-27C2B387CDD4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8AADE161-C0E1-4B73-B17B-4D489944CB66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A52-4709-A12B-7EE1DD395DE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85B45C2-7A1A-4C42-873B-64BF750D0C82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A95F1B5B-C238-4AB5-BA5E-EA8D1B8910A2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A52-4709-A12B-7EE1DD395DE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611C5EB-CE24-4994-B0C8-EF7D20B0815D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959F117C-1626-425E-BB31-DFDB51C9D99D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A52-4709-A12B-7EE1DD395DE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3E7E01F9-D953-4B98-9D7D-7FB696BD4DCE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84DB9CDD-2AD4-4C48-91DD-62BBEF697048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A52-4709-A12B-7EE1DD395DE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1B8FD769-1046-45FA-AEA0-40B9F0364B4F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FCAD85E4-E46D-4040-BE7A-5064F225E529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A52-4709-A12B-7EE1DD395DE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D02901B3-A4C0-4F16-9482-334D5FFBEF8C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9B5B7D64-5A0B-435F-9BD9-42F99ADF4646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CA52-4709-A12B-7EE1DD395DE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245A9FB8-B8D7-41EC-899B-714741723045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3A247F76-76F6-48E1-9783-616FC762E400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A52-4709-A12B-7EE1DD395DE3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4208AE7D-5B2D-4FD0-9A4E-285F885EE7B6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2E81D55D-961C-48BB-81E8-641CD00B8E28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CA52-4709-A12B-7EE1DD395D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ES"/>
              </a:p>
            </c:txPr>
            <c:dLblPos val="inEnd"/>
            <c:showLegendKey val="1"/>
            <c:showVal val="1"/>
            <c:showCatName val="1"/>
            <c:showSerName val="1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'2_Internet_x_Actividad'!$A$4:$A$14</c:f>
              <c:strCache>
                <c:ptCount val="11"/>
                <c:pt idx="0">
                  <c:v>Tienda</c:v>
                </c:pt>
                <c:pt idx="1">
                  <c:v>Comida preparada</c:v>
                </c:pt>
                <c:pt idx="2">
                  <c:v>Servicios</c:v>
                </c:pt>
                <c:pt idx="3">
                  <c:v>Ropa</c:v>
                </c:pt>
                <c:pt idx="4">
                  <c:v>Ferretería y afines</c:v>
                </c:pt>
                <c:pt idx="5">
                  <c:v>Otras variedades</c:v>
                </c:pt>
                <c:pt idx="6">
                  <c:v>Vida nocturna</c:v>
                </c:pt>
                <c:pt idx="7">
                  <c:v>Productos bajo inventario</c:v>
                </c:pt>
                <c:pt idx="8">
                  <c:v>Salud</c:v>
                </c:pt>
                <c:pt idx="9">
                  <c:v>Peluquería y belleza</c:v>
                </c:pt>
                <c:pt idx="10">
                  <c:v>Papelería y comunicaciones</c:v>
                </c:pt>
              </c:strCache>
            </c:strRef>
          </c:cat>
          <c:val>
            <c:numRef>
              <c:f>'2_Internet_x_Actividad'!$B$4:$B$14</c:f>
              <c:numCache>
                <c:formatCode>General</c:formatCode>
                <c:ptCount val="11"/>
                <c:pt idx="0">
                  <c:v>38.6</c:v>
                </c:pt>
                <c:pt idx="1">
                  <c:v>61.6</c:v>
                </c:pt>
                <c:pt idx="2">
                  <c:v>68.3</c:v>
                </c:pt>
                <c:pt idx="3">
                  <c:v>68.599999999999994</c:v>
                </c:pt>
                <c:pt idx="4">
                  <c:v>68.8</c:v>
                </c:pt>
                <c:pt idx="5">
                  <c:v>72.7</c:v>
                </c:pt>
                <c:pt idx="6">
                  <c:v>73.099999999999994</c:v>
                </c:pt>
                <c:pt idx="7">
                  <c:v>73.3</c:v>
                </c:pt>
                <c:pt idx="8">
                  <c:v>75.3</c:v>
                </c:pt>
                <c:pt idx="9">
                  <c:v>77.7</c:v>
                </c:pt>
                <c:pt idx="10">
                  <c:v>78.7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CA52-4709-A12B-7EE1DD395DE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994383"/>
        <c:axId val="6434778"/>
      </c:barChart>
      <c:catAx>
        <c:axId val="209943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ES"/>
                  <a:t>% de uso de internet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6434778"/>
        <c:crosses val="autoZero"/>
        <c:auto val="1"/>
        <c:lblAlgn val="ctr"/>
        <c:lblOffset val="100"/>
        <c:noMultiLvlLbl val="0"/>
      </c:catAx>
      <c:valAx>
        <c:axId val="643477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20994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s-ES"/>
              <a:t>Razones para no usar internet en el negocio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'3_Barreras_No_Uso'!$B$3</c:f>
              <c:strCache>
                <c:ptCount val="1"/>
                <c:pt idx="0">
                  <c:v>% de no usuarios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EA378109-A8FE-41FF-A446-81A160755FF8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 </a:t>
                    </a:r>
                    <a:fld id="{F843F21D-05D0-4C1C-AA27-7C77A8BE0707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D4C-4EB6-83B1-A7021A18DFE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92BA1A9-E2B0-40FA-8F63-0C7A021E3740}" type="CATEGORYNAME">
                      <a:rPr lang="es-ES" baseline="0"/>
                      <a:pPr/>
                      <a:t>[CATEGORY NAME]</a:t>
                    </a:fld>
                    <a:r>
                      <a:rPr lang="es-ES" baseline="0"/>
                      <a:t>: </a:t>
                    </a:r>
                    <a:fld id="{702B1002-BE1A-43FC-BEE8-1F9C6AED8F77}" type="VALUE">
                      <a:rPr lang="es-ES" baseline="0"/>
                      <a:pPr/>
                      <a:t>[VALUE]</a:t>
                    </a:fld>
                    <a:r>
                      <a:rPr lang="es-E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D4C-4EB6-83B1-A7021A18DF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2A3FCFB-AF64-4242-8806-53EEF26862AF}" type="CATEGORYNAME">
                      <a:rPr lang="es-ES" baseline="0"/>
                      <a:pPr/>
                      <a:t>[CATEGORY NAME]</a:t>
                    </a:fld>
                    <a:r>
                      <a:rPr lang="es-ES" baseline="0"/>
                      <a:t>: </a:t>
                    </a:r>
                    <a:fld id="{CD34ECB9-77DF-47C0-8B58-46CE21DCAA3A}" type="VALUE">
                      <a:rPr lang="es-ES" baseline="0"/>
                      <a:pPr/>
                      <a:t>[VALUE]</a:t>
                    </a:fld>
                    <a:r>
                      <a:rPr lang="es-E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D4C-4EB6-83B1-A7021A18DFE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212E397-2B57-4380-B44A-AB1E2E072E77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65B21B92-00A0-4B18-8A94-88FA8116ADED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D4C-4EB6-83B1-A7021A18DF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ES"/>
              </a:p>
            </c:txPr>
            <c:dLblPos val="inEnd"/>
            <c:showLegendKey val="1"/>
            <c:showVal val="1"/>
            <c:showCatName val="1"/>
            <c:showSerName val="1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'3_Barreras_No_Uso'!$A$4:$A$7</c:f>
              <c:strCache>
                <c:ptCount val="4"/>
                <c:pt idx="0">
                  <c:v>No lo considera necesario</c:v>
                </c:pt>
                <c:pt idx="1">
                  <c:v>No sabe cómo usarlo</c:v>
                </c:pt>
                <c:pt idx="2">
                  <c:v>No tiene los recursos</c:v>
                </c:pt>
                <c:pt idx="3">
                  <c:v>No tiene computador/dispositivo</c:v>
                </c:pt>
              </c:strCache>
            </c:strRef>
          </c:cat>
          <c:val>
            <c:numRef>
              <c:f>'3_Barreras_No_Uso'!$B$4:$B$7</c:f>
              <c:numCache>
                <c:formatCode>General</c:formatCode>
                <c:ptCount val="4"/>
                <c:pt idx="0">
                  <c:v>69.099999999999994</c:v>
                </c:pt>
                <c:pt idx="1">
                  <c:v>19.600000000000001</c:v>
                </c:pt>
                <c:pt idx="2">
                  <c:v>15.7</c:v>
                </c:pt>
                <c:pt idx="3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4C-4EB6-83B1-A7021A18DFE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94958233"/>
        <c:axId val="70248178"/>
      </c:barChart>
      <c:catAx>
        <c:axId val="9495823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ES"/>
                  <a:t>% de no usuarios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70248178"/>
        <c:crosses val="autoZero"/>
        <c:auto val="1"/>
        <c:lblAlgn val="ctr"/>
        <c:lblOffset val="100"/>
        <c:noMultiLvlLbl val="0"/>
      </c:catAx>
      <c:valAx>
        <c:axId val="7024817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9495823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s-E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s-ES"/>
              <a:t>Para qué usan internet los negocios que ya lo usan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E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'4_Usos_del_Internet'!$B$3</c:f>
              <c:strCache>
                <c:ptCount val="1"/>
                <c:pt idx="0">
                  <c:v>% de usuarios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71FAFC93-A083-420A-BE37-4B19F82D1269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EC1581A4-ACD0-4176-A782-96A692717C1D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A18-4EC2-8B36-B69B9A333E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E4BB4CB-03B9-4CB7-8A74-16E10381DFC9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911B60D3-90D7-48D1-B589-887736568BB5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A18-4EC2-8B36-B69B9A333E8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6C17C3D-1F6B-4922-9A35-348FE10DE8C0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B8809765-44E2-4628-AAC2-A04742FE84E0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A18-4EC2-8B36-B69B9A333E8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3BD4E69A-F983-4967-A30B-4F1E3C4C45F4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E7EE255A-9D96-40E6-8DD3-C259D4BBEEB9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A18-4EC2-8B36-B69B9A333E8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8D7B834C-B4A2-4695-8867-3A1BA0D09671}" type="CATEGORYNAME">
                      <a:rPr lang="en-US" baseline="0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EAE6F6E0-5D31-47F2-99A1-7BC79C316761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A18-4EC2-8B36-B69B9A333E8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>
                        <a:solidFill>
                          <a:schemeClr val="tx1"/>
                        </a:solidFill>
                      </a:rPr>
                      <a:t> </a:t>
                    </a:r>
                    <a:fld id="{C1041AD2-5917-4157-8E45-729C3F7FE75F}" type="CATEGORYNAME">
                      <a:rPr lang="en-US">
                        <a:solidFill>
                          <a:schemeClr val="tx1"/>
                        </a:solidFill>
                      </a:rPr>
                      <a:pPr/>
                      <a:t>[CATEGORY NAME]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: </a:t>
                    </a:r>
                    <a:fld id="{C368E7F3-E333-4917-A2F5-A1F9A46F322A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dLblPos val="inEnd"/>
              <c:showLegendKey val="1"/>
              <c:showVal val="1"/>
              <c:showCatName val="1"/>
              <c:showSerName val="1"/>
              <c:showPercent val="0"/>
              <c:showBubbleSize val="1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A18-4EC2-8B36-B69B9A333E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ES"/>
              </a:p>
            </c:txPr>
            <c:dLblPos val="inEnd"/>
            <c:showLegendKey val="1"/>
            <c:showVal val="1"/>
            <c:showCatName val="1"/>
            <c:showSerName val="1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'4_Usos_del_Internet'!$A$4:$A$9</c:f>
              <c:strCache>
                <c:ptCount val="6"/>
                <c:pt idx="0">
                  <c:v>Comunicación con clientes</c:v>
                </c:pt>
                <c:pt idx="1">
                  <c:v>Redes sociales</c:v>
                </c:pt>
                <c:pt idx="2">
                  <c:v>Ventas online</c:v>
                </c:pt>
                <c:pt idx="3">
                  <c:v>Compra de insumos/proveedores</c:v>
                </c:pt>
                <c:pt idx="4">
                  <c:v>Publicidad/marketing</c:v>
                </c:pt>
                <c:pt idx="5">
                  <c:v>Banca/pagos digitales</c:v>
                </c:pt>
              </c:strCache>
            </c:strRef>
          </c:cat>
          <c:val>
            <c:numRef>
              <c:f>'4_Usos_del_Internet'!$B$4:$B$9</c:f>
              <c:numCache>
                <c:formatCode>General</c:formatCode>
                <c:ptCount val="6"/>
                <c:pt idx="0">
                  <c:v>62</c:v>
                </c:pt>
                <c:pt idx="1">
                  <c:v>36.6</c:v>
                </c:pt>
                <c:pt idx="2">
                  <c:v>30</c:v>
                </c:pt>
                <c:pt idx="3">
                  <c:v>24.8</c:v>
                </c:pt>
                <c:pt idx="4">
                  <c:v>19.3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18-4EC2-8B36-B69B9A333E8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318891"/>
        <c:axId val="28690131"/>
      </c:barChart>
      <c:catAx>
        <c:axId val="1731889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s-ES"/>
                  <a:t>% de usuarios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28690131"/>
        <c:crosses val="autoZero"/>
        <c:auto val="1"/>
        <c:lblAlgn val="ctr"/>
        <c:lblOffset val="100"/>
        <c:noMultiLvlLbl val="0"/>
      </c:catAx>
      <c:valAx>
        <c:axId val="2869013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ES"/>
          </a:p>
        </c:txPr>
        <c:crossAx val="173188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s-E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A4D59-46F8-4CD7-87F0-49D2BFAA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F25B16-EEC2-4AFA-9EF5-FFAE68AD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785B38-44F3-4CB3-AEE3-D088D585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8E135A-7468-414C-8BB4-8C295ECC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168E08-7E24-4982-AF96-6D57FD21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281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55447-05E0-4B4C-9A57-F00C220C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515FB1-8037-4B8A-A1F8-5985EC640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45BA8-EFC6-4555-B227-33AC12AE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A8CFCC-A156-4F76-AE75-EDF9807A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DB86B6-A568-47DA-BD3A-0766D756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317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A53B3-4D75-4E69-84FD-B4EF6259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B9A0DC-48CA-47D1-9F52-8C18A4D7C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13E096-2F86-4D1C-BEAE-BFD3E64A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A0C5E1-A689-4D88-B0CD-F44594BF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5165B-5EEF-4E33-9385-A0353BB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509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98DFB-6733-4E67-A058-B2236189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CA25E-CE03-49C1-8F58-607B35B9A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CE8868-7F05-4DC1-A746-C5DD64BC3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AC4A9C-54D6-45EC-95B7-F7820500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B1D8EB-3EFC-4FF2-88C2-D7839F51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ECFB6B-F165-44A5-A7AA-1C8A0392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927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D7CDD-6B67-4BD9-AFEB-A8E3BA53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A65722-7073-40B3-BE50-3627DA0FB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D4765-E580-4A6B-B6E6-EC787C158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8907B3-0FE8-4E8C-B0D4-3F79836EC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692DB3-84E5-40E9-8FAA-261D570FD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FA5A2C-8E3B-4477-A0F1-D94FEE3B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57AC9E-666E-4F34-B591-D11D75F1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E5BD4E-DF4A-46DD-90D5-7D15F088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793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B6EDC-FD7D-4616-9D6A-7F9EDECE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E55F5D-CD5F-4AB3-A548-8EB53758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6D9979-CB80-437E-B0EA-3B1E56663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CCAC05-A487-42C1-A057-A55C0F4A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1343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559A5F-DCF9-4488-9D3B-D1482742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EA5184-62E7-43DA-86BB-0D50AEBB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3B160D-C0D0-47ED-AD4C-FF84C101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66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DAF3B-FD7E-4D71-95F7-79C6B92C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D78B2-E030-42D0-80E3-7D39A700A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3B20C6-3B0E-4957-BB1B-25417F175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FEFCAB-82CF-4CD0-AAC3-E781D8437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5788EF-F42C-4103-8556-27430D61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FFA203-1C53-4AAA-B1F6-BFA72FDF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121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40062-C591-4B9A-9F72-1B295B4A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6C1090-F91B-41FF-99FA-FA10AFDAA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A0155E-D6BE-46F4-ACF4-5DB07C77C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B3F9C1-2887-453C-AAAE-F6C1CEC0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B2FF0F-6AC0-4B1F-913A-83103AB7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35362A-2165-4D0F-8E22-5347A13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785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F5F57-894B-4D2B-B6A2-FF0DABC9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0879AC-5D86-48C0-A908-D2616955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CBF127-813E-4784-86B0-612812D8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2607E-D7DD-44BF-BFB3-8B1EFDE9B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9FF499-44D5-4AC4-9BDC-6B03177C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17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9E88F3-0A89-4FD5-98CD-231ADDB9C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E08952-3CC2-47F4-8378-0B851F1C7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88D5A4-AE1C-49CD-B6A2-304708B0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3C515-B0B2-4796-B455-425E9485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AAAB2-680A-4433-9D92-ADA1D47D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966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7808BC-C960-4676-AD23-EB5DDD7A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810D1-E63B-452B-A567-39498D11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33B636-BDCC-4C8C-8122-4C3CB67DE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49F0-25C2-4F47-87EC-49A181301811}" type="datetimeFigureOut">
              <a:rPr lang="es-ES" smtClean="0"/>
              <a:t>16/08/2026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9663B4-262F-4495-BF96-C19194617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5B998E-4719-4C73-A714-0476E54D5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697C0-D458-48D0-9D7D-B422F48C977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148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08BC6-27E9-4A0A-9209-41E8ECB40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1224" y="259257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O" b="1" dirty="0">
                <a:latin typeface="Abadi" panose="020F0502020204030204" pitchFamily="34" charset="0"/>
                <a:cs typeface="Times New Roman" panose="02020603050405020304" pitchFamily="18" charset="0"/>
              </a:rPr>
              <a:t>Análisis estadístico</a:t>
            </a:r>
            <a:br>
              <a:rPr lang="es-CO" b="1" dirty="0">
                <a:latin typeface="Abadi" panose="020F0502020204030204" pitchFamily="34" charset="0"/>
                <a:cs typeface="Times New Roman" panose="02020603050405020304" pitchFamily="18" charset="0"/>
              </a:rPr>
            </a:br>
            <a: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  <a:t>Por:</a:t>
            </a:r>
            <a:b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</a:br>
            <a: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  <a:t>Manuela Vergara</a:t>
            </a:r>
            <a:b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</a:br>
            <a: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  <a:t>Mariana Muñoz</a:t>
            </a:r>
            <a:b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</a:br>
            <a: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  <a:t>Santiago Martínez</a:t>
            </a:r>
            <a:b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</a:br>
            <a:r>
              <a:rPr lang="es-CO" sz="2200" b="1" dirty="0">
                <a:latin typeface="Abadi" panose="020F0502020204030204" pitchFamily="34" charset="0"/>
                <a:cs typeface="Times New Roman" panose="02020603050405020304" pitchFamily="18" charset="0"/>
              </a:rPr>
              <a:t>Derek Santiago Gaona</a:t>
            </a:r>
            <a:endParaRPr lang="es-ES" sz="2200" b="1" dirty="0">
              <a:latin typeface="Abad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15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E9457-C8A1-4A76-9DC3-F30FA92A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Pregunta base: ¿Vale la pena invertir en capacitaciones para los micronegocios?</a:t>
            </a:r>
            <a:endParaRPr lang="es-ES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A128BA-18B6-4531-9A1E-AD027267F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593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500" dirty="0">
                <a:latin typeface="Abadi" panose="020B0604020104020204" pitchFamily="34" charset="0"/>
                <a:cs typeface="Times New Roman" panose="02020603050405020304" pitchFamily="18" charset="0"/>
              </a:rPr>
              <a:t>Análisis: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500" dirty="0">
                <a:latin typeface="Abadi" panose="020B0604020104020204" pitchFamily="34" charset="0"/>
                <a:cs typeface="Times New Roman" panose="02020603050405020304" pitchFamily="18" charset="0"/>
              </a:rPr>
              <a:t>Ingreso mensual según uso de internet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500" dirty="0">
                <a:latin typeface="Abadi" panose="020B0604020104020204" pitchFamily="34" charset="0"/>
                <a:cs typeface="Times New Roman" panose="02020603050405020304" pitchFamily="18" charset="0"/>
              </a:rPr>
              <a:t>Tasa de uso de internet por actividad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500" dirty="0">
                <a:latin typeface="Abadi" panose="020B0604020104020204" pitchFamily="34" charset="0"/>
                <a:cs typeface="Times New Roman" panose="02020603050405020304" pitchFamily="18" charset="0"/>
              </a:rPr>
              <a:t>Razones para no usar internet</a:t>
            </a:r>
          </a:p>
          <a:p>
            <a:pPr marL="514350" indent="-514350">
              <a:buFont typeface="+mj-lt"/>
              <a:buAutoNum type="arabicPeriod"/>
            </a:pPr>
            <a:r>
              <a:rPr lang="es-CO" sz="2500" dirty="0">
                <a:latin typeface="Abadi" panose="020B0604020104020204" pitchFamily="34" charset="0"/>
                <a:cs typeface="Times New Roman" panose="02020603050405020304" pitchFamily="18" charset="0"/>
              </a:rPr>
              <a:t>¿Para qué usan internet los negocios que ya lo usan?</a:t>
            </a:r>
            <a:endParaRPr lang="es-ES" sz="25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68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2613346"/>
              </p:ext>
            </p:extLst>
          </p:nvPr>
        </p:nvGraphicFramePr>
        <p:xfrm>
          <a:off x="817405" y="1701540"/>
          <a:ext cx="6307920" cy="345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5D8861A-3843-4D98-8AEB-1599E41807BB}"/>
              </a:ext>
            </a:extLst>
          </p:cNvPr>
          <p:cNvSpPr txBox="1"/>
          <p:nvPr/>
        </p:nvSpPr>
        <p:spPr>
          <a:xfrm>
            <a:off x="7718612" y="2402541"/>
            <a:ext cx="33438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Más de un 60% de los negocios ya utilizan internet, y quienes lo usan reportan ingresos 2.5 x más altos y 15 puntos más de formalidad</a:t>
            </a:r>
            <a:endParaRPr lang="es-ES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557360"/>
              </p:ext>
            </p:extLst>
          </p:nvPr>
        </p:nvGraphicFramePr>
        <p:xfrm>
          <a:off x="1581637" y="621077"/>
          <a:ext cx="9261809" cy="3858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7EACA7A-D4B6-472A-B7A7-01314898F561}"/>
              </a:ext>
            </a:extLst>
          </p:cNvPr>
          <p:cNvSpPr txBox="1"/>
          <p:nvPr/>
        </p:nvSpPr>
        <p:spPr>
          <a:xfrm>
            <a:off x="3576918" y="4993341"/>
            <a:ext cx="5369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El tipo de actividad importa, por ejemplo, las tiendas (el grupo más grande de negocios) tienen la tasa de uso más baja (38.6%), y menor porcentaje de ventas por internet (13.5%)</a:t>
            </a:r>
            <a:endParaRPr lang="es-ES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3197536"/>
              </p:ext>
            </p:extLst>
          </p:nvPr>
        </p:nvGraphicFramePr>
        <p:xfrm>
          <a:off x="488577" y="1748474"/>
          <a:ext cx="7162800" cy="311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920365F-CA10-4997-88A8-C60F0E517647}"/>
              </a:ext>
            </a:extLst>
          </p:cNvPr>
          <p:cNvSpPr txBox="1"/>
          <p:nvPr/>
        </p:nvSpPr>
        <p:spPr>
          <a:xfrm>
            <a:off x="8588188" y="1872333"/>
            <a:ext cx="23128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La barrera principal no es la habilidad, es la percepción que hay relacionada con el uso de internet.</a:t>
            </a:r>
          </a:p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Si bien las capacitaciones podrían ser útiles, no atacan el problema principal.</a:t>
            </a:r>
            <a:endParaRPr lang="es-ES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008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960250"/>
              </p:ext>
            </p:extLst>
          </p:nvPr>
        </p:nvGraphicFramePr>
        <p:xfrm>
          <a:off x="395883" y="1703651"/>
          <a:ext cx="6308280" cy="311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F6881F31-0005-4D75-BFFC-42D3C3C401DF}"/>
              </a:ext>
            </a:extLst>
          </p:cNvPr>
          <p:cNvSpPr txBox="1"/>
          <p:nvPr/>
        </p:nvSpPr>
        <p:spPr>
          <a:xfrm>
            <a:off x="7207624" y="1703651"/>
            <a:ext cx="4437529" cy="311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65E62D-4F69-4120-B09E-052BB27E54D6}"/>
              </a:ext>
            </a:extLst>
          </p:cNvPr>
          <p:cNvSpPr txBox="1"/>
          <p:nvPr/>
        </p:nvSpPr>
        <p:spPr>
          <a:xfrm>
            <a:off x="7413812" y="1966009"/>
            <a:ext cx="3693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Con la ayuda de las capacitaciones hay campo en el cual se puede trabajar para así poder aumentar las ventas en los micronegocios.</a:t>
            </a:r>
          </a:p>
          <a:p>
            <a:r>
              <a:rPr lang="es-CO" dirty="0">
                <a:latin typeface="Tenorite" panose="00000500000000000000" pitchFamily="2" charset="0"/>
                <a:cs typeface="Times New Roman" panose="02020603050405020304" pitchFamily="18" charset="0"/>
              </a:rPr>
              <a:t>Esto teniendo en cuenta que el problema a atacar es la falta de conocimiento sobre las ventajas del uso del internet en el sector financiero.</a:t>
            </a:r>
            <a:endParaRPr lang="es-ES" dirty="0">
              <a:latin typeface="Tenorite" panose="000005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6571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</a:majorFont>
    <a:minorFont>
      <a:latin typeface="Calibri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tint val="50000"/>
            </a:schemeClr>
          </a:gs>
          <a:gs pos="35000">
            <a:schemeClr val="phClr">
              <a:tint val="37000"/>
            </a:schemeClr>
          </a:gs>
          <a:gs pos="100000">
            <a:schemeClr val="phClr">
              <a:tint val="15000"/>
            </a:schemeClr>
          </a:gs>
        </a:gsLst>
        <a:lin ang="16200000" scaled="1"/>
        <a:tileRect/>
      </a:gradFill>
      <a:gradFill>
        <a:gsLst>
          <a:gs pos="0">
            <a:schemeClr val="phClr">
              <a:shade val="51000"/>
            </a:schemeClr>
          </a:gs>
          <a:gs pos="80000">
            <a:schemeClr val="phClr">
              <a:shade val="93000"/>
            </a:schemeClr>
          </a:gs>
          <a:gs pos="100000">
            <a:schemeClr val="phClr">
              <a:shade val="94000"/>
            </a:schemeClr>
          </a:gs>
        </a:gsLst>
        <a:lin ang="16200000" scaled="0"/>
        <a:tileRect/>
      </a:gradFill>
    </a:fillStyleLst>
    <a:lnStyleLst>
      <a:ln w="9525" cap="flat" cmpd="sng" algn="ctr">
        <a:prstDash val="solid"/>
      </a:ln>
      <a:ln w="25400" cap="flat" cmpd="sng" algn="ctr">
        <a:prstDash val="solid"/>
      </a:ln>
      <a:ln w="38100" cap="flat" cmpd="sng" algn="ctr"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>
        <a:gsLst>
          <a:gs pos="0">
            <a:schemeClr val="phClr">
              <a:tint val="40000"/>
            </a:schemeClr>
          </a:gs>
          <a:gs pos="40000">
            <a:schemeClr val="phClr">
              <a:tint val="45000"/>
              <a:shade val="99000"/>
            </a:schemeClr>
          </a:gs>
          <a:gs pos="100000">
            <a:schemeClr val="phClr">
              <a:shade val="20000"/>
            </a:schemeClr>
          </a:gs>
        </a:gsLst>
        <a:path path="circle">
          <a:fillToRect l="50000" t="-80000" r="50000" b="180000"/>
        </a:path>
        <a:tileRect/>
      </a:gradFill>
      <a:gradFill>
        <a:gsLst>
          <a:gs pos="0">
            <a:schemeClr val="phClr">
              <a:tint val="80000"/>
            </a:schemeClr>
          </a:gs>
          <a:gs pos="100000">
            <a:schemeClr val="phClr">
              <a:shade val="30000"/>
            </a:schemeClr>
          </a:gs>
        </a:gsLst>
        <a:path path="circle">
          <a:fillToRect l="50000" t="50000" r="50000" b="50000"/>
        </a:path>
        <a:tileRect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380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Abadi</vt:lpstr>
      <vt:lpstr>Arial</vt:lpstr>
      <vt:lpstr>Calibri</vt:lpstr>
      <vt:lpstr>Calibri Light</vt:lpstr>
      <vt:lpstr>Tenorite</vt:lpstr>
      <vt:lpstr>Tema de Office</vt:lpstr>
      <vt:lpstr>Análisis estadístico Por: Manuela Vergara Mariana Muñoz Santiago Martínez Derek Santiago Gaona</vt:lpstr>
      <vt:lpstr>Pregunta base: ¿Vale la pena invertir en capacitaciones para los micronegocios?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estadístico Por: Manuela Vergara Mariana Muñoz Santiago Martínez Derek Santiago Gaona</dc:title>
  <dc:creator>Mariana Muñoz Gamboa</dc:creator>
  <cp:lastModifiedBy>Manuela Vergara Gomez</cp:lastModifiedBy>
  <cp:revision>5</cp:revision>
  <dcterms:created xsi:type="dcterms:W3CDTF">2026-08-17T01:05:53Z</dcterms:created>
  <dcterms:modified xsi:type="dcterms:W3CDTF">2026-08-17T04:27:11Z</dcterms:modified>
</cp:coreProperties>
</file>