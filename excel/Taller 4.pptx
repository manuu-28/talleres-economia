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charts/chart3.xml" ContentType="application/vnd.openxmlformats-officedocument.drawingml.chart+xml"/>
  <Override PartName="/ppt/notesSlides/notesSlide6.xml" ContentType="application/vnd.openxmlformats-officedocument.presentationml.notesSlide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1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usa internet</c:v>
                </c:pt>
              </c:strCache>
            </c:strRef>
          </c:tx>
          <c:spPr>
            <a:solidFill>
              <a:srgbClr val="B9C2CE"/>
            </a:solidFill>
            <a:effectLst/>
          </c:spPr>
          <c:invertIfNegative val="0"/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B2A41"/>
                    </a:solidFill>
                    <a:latin typeface="Calibri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Mes bueno</c:v>
                </c:pt>
                <c:pt idx="1">
                  <c:v>Mes malo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4E-4BC7-935C-594FA10B266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Usa internet</c:v>
                </c:pt>
              </c:strCache>
            </c:strRef>
          </c:tx>
          <c:spPr>
            <a:solidFill>
              <a:srgbClr val="1D5C9E"/>
            </a:solidFill>
            <a:effectLst/>
          </c:spPr>
          <c:invertIfNegative val="0"/>
          <c:dLbls>
            <c:numFmt formatCode="&quot;$&quot;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B2A41"/>
                    </a:solidFill>
                    <a:latin typeface="Calibri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Mes bueno</c:v>
                </c:pt>
                <c:pt idx="1">
                  <c:v>Mes malo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E4E-4BC7-935C-594FA10B26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1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>
        <c:manualLayout>
          <c:xMode val="edge"/>
          <c:yMode val="edge"/>
          <c:x val="0.32755829566443084"/>
          <c:y val="8.1871345029239762E-2"/>
          <c:w val="0.34488325678040244"/>
          <c:h val="5.6420085647188839E-2"/>
        </c:manualLayout>
      </c:layout>
      <c:overlay val="0"/>
      <c:txPr>
        <a:bodyPr/>
        <a:lstStyle/>
        <a:p>
          <a:pPr>
            <a:defRPr sz="1100">
              <a:solidFill>
                <a:srgbClr val="5B6B8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uso</c:v>
                </c:pt>
              </c:strCache>
            </c:strRef>
          </c:tx>
          <c:spPr>
            <a:solidFill>
              <a:srgbClr val="E08A2B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0-E48F-4F70-B194-AAAD83952A3B}"/>
              </c:ext>
            </c:extLst>
          </c:dPt>
          <c:dPt>
            <c:idx val="1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E48F-4F70-B194-AAAD83952A3B}"/>
              </c:ext>
            </c:extLst>
          </c:dPt>
          <c:dPt>
            <c:idx val="2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E48F-4F70-B194-AAAD83952A3B}"/>
              </c:ext>
            </c:extLst>
          </c:dPt>
          <c:dPt>
            <c:idx val="3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E48F-4F70-B194-AAAD83952A3B}"/>
              </c:ext>
            </c:extLst>
          </c:dPt>
          <c:dPt>
            <c:idx val="4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E48F-4F70-B194-AAAD83952A3B}"/>
              </c:ext>
            </c:extLst>
          </c:dPt>
          <c:dPt>
            <c:idx val="5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E48F-4F70-B194-AAAD83952A3B}"/>
              </c:ext>
            </c:extLst>
          </c:dPt>
          <c:dPt>
            <c:idx val="6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C-E48F-4F70-B194-AAAD83952A3B}"/>
              </c:ext>
            </c:extLst>
          </c:dPt>
          <c:dPt>
            <c:idx val="7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E-E48F-4F70-B194-AAAD83952A3B}"/>
              </c:ext>
            </c:extLst>
          </c:dPt>
          <c:dPt>
            <c:idx val="8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0-E48F-4F70-B194-AAAD83952A3B}"/>
              </c:ext>
            </c:extLst>
          </c:dPt>
          <c:dPt>
            <c:idx val="9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2-E48F-4F70-B194-AAAD83952A3B}"/>
              </c:ext>
            </c:extLst>
          </c:dPt>
          <c:dPt>
            <c:idx val="10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4-E48F-4F70-B194-AAAD83952A3B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1" i="0" u="none" strike="noStrike">
                    <a:solidFill>
                      <a:srgbClr val="1B2A41"/>
                    </a:solidFill>
                    <a:latin typeface="Calibri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Tiendas</c:v>
                </c:pt>
                <c:pt idx="1">
                  <c:v>Comida preparada</c:v>
                </c:pt>
                <c:pt idx="2">
                  <c:v>Servicios</c:v>
                </c:pt>
                <c:pt idx="3">
                  <c:v>Ropa</c:v>
                </c:pt>
                <c:pt idx="4">
                  <c:v>Ferretería y afines</c:v>
                </c:pt>
                <c:pt idx="5">
                  <c:v>Otras variedades</c:v>
                </c:pt>
                <c:pt idx="6">
                  <c:v>Vida nocturna</c:v>
                </c:pt>
                <c:pt idx="7">
                  <c:v>Productos bajo inventario</c:v>
                </c:pt>
                <c:pt idx="8">
                  <c:v>Salud</c:v>
                </c:pt>
                <c:pt idx="9">
                  <c:v>Peluquería y belleza</c:v>
                </c:pt>
                <c:pt idx="10">
                  <c:v>Papelería y comunicaciones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38.6</c:v>
                </c:pt>
                <c:pt idx="1">
                  <c:v>61.6</c:v>
                </c:pt>
                <c:pt idx="2">
                  <c:v>68.3</c:v>
                </c:pt>
                <c:pt idx="3">
                  <c:v>68.599999999999994</c:v>
                </c:pt>
                <c:pt idx="4">
                  <c:v>68.8</c:v>
                </c:pt>
                <c:pt idx="5">
                  <c:v>72.7</c:v>
                </c:pt>
                <c:pt idx="6">
                  <c:v>73.099999999999994</c:v>
                </c:pt>
                <c:pt idx="7">
                  <c:v>73.3</c:v>
                </c:pt>
                <c:pt idx="8">
                  <c:v>75.3</c:v>
                </c:pt>
                <c:pt idx="9">
                  <c:v>77.7</c:v>
                </c:pt>
                <c:pt idx="10">
                  <c:v>78.7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E48F-4F70-B194-AAAD83952A3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no usuarios</c:v>
                </c:pt>
              </c:strCache>
            </c:strRef>
          </c:tx>
          <c:spPr>
            <a:solidFill>
              <a:srgbClr val="B9C2CE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EB0-4267-BC4A-FB6B2605132B}"/>
              </c:ext>
            </c:extLst>
          </c:dPt>
          <c:dPt>
            <c:idx val="1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EB0-4267-BC4A-FB6B2605132B}"/>
              </c:ext>
            </c:extLst>
          </c:dPt>
          <c:dPt>
            <c:idx val="2"/>
            <c:invertIfNegative val="0"/>
            <c:bubble3D val="0"/>
            <c:spPr>
              <a:solidFill>
                <a:srgbClr val="B9C2C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EB0-4267-BC4A-FB6B2605132B}"/>
              </c:ext>
            </c:extLst>
          </c:dPt>
          <c:dPt>
            <c:idx val="3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EB0-4267-BC4A-FB6B2605132B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1B2A41"/>
                    </a:solidFill>
                    <a:latin typeface="Calibri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No tiene computador
o dispositivo</c:v>
                </c:pt>
                <c:pt idx="1">
                  <c:v>No tiene los recursos</c:v>
                </c:pt>
                <c:pt idx="2">
                  <c:v>No sabe cómo usarlo</c:v>
                </c:pt>
                <c:pt idx="3">
                  <c:v>No lo considera necesario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7.4</c:v>
                </c:pt>
                <c:pt idx="1">
                  <c:v>15.7</c:v>
                </c:pt>
                <c:pt idx="2">
                  <c:v>19.600000000000001</c:v>
                </c:pt>
                <c:pt idx="3">
                  <c:v>69.099999999999994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EB0-4267-BC4A-FB6B2605132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2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6132375814134345"/>
          <c:y val="6.4327485380116955E-2"/>
          <c:w val="0.82288416204918835"/>
          <c:h val="0.93567251461988299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de usuarios</c:v>
                </c:pt>
              </c:strCache>
            </c:strRef>
          </c:tx>
          <c:spPr>
            <a:solidFill>
              <a:srgbClr val="E08A2B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FC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085-4642-8D59-29F36E93C852}"/>
              </c:ext>
            </c:extLst>
          </c:dPt>
          <c:dPt>
            <c:idx val="1"/>
            <c:invertIfNegative val="0"/>
            <c:bubble3D val="0"/>
            <c:spPr>
              <a:solidFill>
                <a:srgbClr val="1D5C9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085-4642-8D59-29F36E93C852}"/>
              </c:ext>
            </c:extLst>
          </c:dPt>
          <c:dPt>
            <c:idx val="2"/>
            <c:invertIfNegative val="0"/>
            <c:bubble3D val="0"/>
            <c:spPr>
              <a:solidFill>
                <a:srgbClr val="1D5C9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085-4642-8D59-29F36E93C852}"/>
              </c:ext>
            </c:extLst>
          </c:dPt>
          <c:dPt>
            <c:idx val="3"/>
            <c:invertIfNegative val="0"/>
            <c:bubble3D val="0"/>
            <c:spPr>
              <a:solidFill>
                <a:srgbClr val="1D5C9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085-4642-8D59-29F36E93C852}"/>
              </c:ext>
            </c:extLst>
          </c:dPt>
          <c:dPt>
            <c:idx val="4"/>
            <c:invertIfNegative val="0"/>
            <c:bubble3D val="0"/>
            <c:spPr>
              <a:solidFill>
                <a:srgbClr val="1D5C9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085-4642-8D59-29F36E93C852}"/>
              </c:ext>
            </c:extLst>
          </c:dPt>
          <c:dPt>
            <c:idx val="5"/>
            <c:invertIfNegative val="0"/>
            <c:bubble3D val="0"/>
            <c:spPr>
              <a:solidFill>
                <a:srgbClr val="1D5C9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085-4642-8D59-29F36E93C852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1B2A41"/>
                    </a:solidFill>
                    <a:latin typeface="Calibri"/>
                  </a:defRPr>
                </a:pPr>
                <a:endParaRPr lang="es-CO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Banca / pagos digitales</c:v>
                </c:pt>
                <c:pt idx="1">
                  <c:v>Publicidad / marketing</c:v>
                </c:pt>
                <c:pt idx="2">
                  <c:v>Compra de insumos
y proveedores</c:v>
                </c:pt>
                <c:pt idx="3">
                  <c:v>Ventas online</c:v>
                </c:pt>
                <c:pt idx="4">
                  <c:v>Redes sociales</c:v>
                </c:pt>
                <c:pt idx="5">
                  <c:v>Comunicación
con clientes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5.7</c:v>
                </c:pt>
                <c:pt idx="1">
                  <c:v>19.3</c:v>
                </c:pt>
                <c:pt idx="2">
                  <c:v>24.8</c:v>
                </c:pt>
                <c:pt idx="3">
                  <c:v>30</c:v>
                </c:pt>
                <c:pt idx="4">
                  <c:v>36.6</c:v>
                </c:pt>
                <c:pt idx="5">
                  <c:v>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085-4642-8D59-29F36E93C8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B2A4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2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6655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3E5C86">
              <a:alpha val="4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-1280160" y="4937760"/>
            <a:ext cx="3108960" cy="3108960"/>
          </a:xfrm>
          <a:prstGeom prst="ellipse">
            <a:avLst/>
          </a:prstGeom>
          <a:solidFill>
            <a:srgbClr val="3E5C86">
              <a:alpha val="45000"/>
            </a:srgbClr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4267925" y="3429000"/>
            <a:ext cx="3168469" cy="12533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Derek Santiago Gaona</a:t>
            </a:r>
          </a:p>
          <a:p>
            <a:pPr marL="0" indent="0" algn="ctr">
              <a:buNone/>
            </a:pPr>
            <a:r>
              <a:rPr lang="en-US" sz="1400" b="1" kern="0" spc="300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Santiago Martínez</a:t>
            </a:r>
          </a:p>
          <a:p>
            <a:pPr marL="0" indent="0" algn="ctr">
              <a:buNone/>
            </a:pPr>
            <a:r>
              <a:rPr lang="en-US" sz="1400" b="1" kern="0" spc="300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Mariana Muñoz</a:t>
            </a:r>
          </a:p>
          <a:p>
            <a:pPr marL="0" indent="0" algn="ctr">
              <a:buNone/>
            </a:pPr>
            <a:r>
              <a:rPr lang="en-US" sz="1400" b="1" kern="0" spc="300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Manuela Vergara</a:t>
            </a:r>
            <a:endParaRPr lang="en-US" sz="1400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2116545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s-CO" sz="4000" b="1" noProof="0" dirty="0">
                <a:solidFill>
                  <a:srgbClr val="0020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Análisis estadístico</a:t>
            </a:r>
            <a:endParaRPr lang="es-CO" sz="4000" noProof="0" dirty="0">
              <a:solidFill>
                <a:srgbClr val="00206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59888"/>
            <a:ext cx="10881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CO" sz="3000" b="1" noProof="0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Pregunta base: ¿Vale la pena invertir en capacitaciones para los micronegocios?</a:t>
            </a:r>
            <a:endParaRPr lang="es-CO" sz="3000" noProof="0" dirty="0">
              <a:latin typeface="Tenorite" panose="00000500000000000000" pitchFamily="2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71846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243328" y="2651760"/>
            <a:ext cx="29094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CO" sz="2000" b="1" noProof="0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Ingreso mensual según uso de internet</a:t>
            </a:r>
            <a:endParaRPr lang="es-CO" sz="2000" noProof="0" dirty="0">
              <a:latin typeface="Tenorite" panose="00000500000000000000" pitchFamily="2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437547" y="4305993"/>
            <a:ext cx="640080" cy="640080"/>
          </a:xfrm>
          <a:prstGeom prst="ellipse">
            <a:avLst/>
          </a:prstGeom>
          <a:solidFill>
            <a:srgbClr val="E9EEF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1437547" y="4305993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E5C86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>
              <a:latin typeface="Tenorite" panose="00000500000000000000" pitchFamily="2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243329" y="4317077"/>
            <a:ext cx="290945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CO" sz="2000" b="1" noProof="0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Tasa de uso por tipo de actividad económica</a:t>
            </a:r>
            <a:endParaRPr lang="es-CO" sz="2000" noProof="0" dirty="0">
              <a:latin typeface="Tenorite" panose="00000500000000000000" pitchFamily="2" charset="0"/>
            </a:endParaRP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EC911D84-B171-1F8D-9975-A0B71E1C4562}"/>
              </a:ext>
            </a:extLst>
          </p:cNvPr>
          <p:cNvSpPr/>
          <p:nvPr/>
        </p:nvSpPr>
        <p:spPr>
          <a:xfrm>
            <a:off x="1437547" y="2651760"/>
            <a:ext cx="640080" cy="640080"/>
          </a:xfrm>
          <a:prstGeom prst="ellipse">
            <a:avLst/>
          </a:prstGeom>
          <a:solidFill>
            <a:srgbClr val="E9EEF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22A3C365-760D-CCF8-0827-89214F0BE856}"/>
              </a:ext>
            </a:extLst>
          </p:cNvPr>
          <p:cNvSpPr/>
          <p:nvPr/>
        </p:nvSpPr>
        <p:spPr>
          <a:xfrm>
            <a:off x="1437547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E5C86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>
              <a:latin typeface="Tenorite" panose="00000500000000000000" pitchFamily="2" charset="0"/>
            </a:endParaRPr>
          </a:p>
        </p:txBody>
      </p:sp>
      <p:sp>
        <p:nvSpPr>
          <p:cNvPr id="31" name="Text 4">
            <a:extLst>
              <a:ext uri="{FF2B5EF4-FFF2-40B4-BE49-F238E27FC236}">
                <a16:creationId xmlns:a16="http://schemas.microsoft.com/office/drawing/2014/main" id="{09EEA952-28A9-4BBB-67B2-02553AB44A9D}"/>
              </a:ext>
            </a:extLst>
          </p:cNvPr>
          <p:cNvSpPr/>
          <p:nvPr/>
        </p:nvSpPr>
        <p:spPr>
          <a:xfrm>
            <a:off x="5885410" y="330569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E81D6F84-9573-427C-9E7A-83BD96FB50E5}"/>
              </a:ext>
            </a:extLst>
          </p:cNvPr>
          <p:cNvSpPr/>
          <p:nvPr/>
        </p:nvSpPr>
        <p:spPr>
          <a:xfrm>
            <a:off x="6856892" y="2665614"/>
            <a:ext cx="290945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5000"/>
              </a:lnSpc>
            </a:pPr>
            <a:r>
              <a:rPr lang="es-CO" sz="2000" b="1" noProof="0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Razones para no usar internet en el negocio</a:t>
            </a:r>
            <a:endParaRPr lang="es-CO" sz="2000" noProof="0" dirty="0">
              <a:latin typeface="Tenorite" panose="00000500000000000000" pitchFamily="2" charset="0"/>
            </a:endParaRPr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75F06545-9063-4FB1-1A6F-C77DD0CB6E88}"/>
              </a:ext>
            </a:extLst>
          </p:cNvPr>
          <p:cNvSpPr/>
          <p:nvPr/>
        </p:nvSpPr>
        <p:spPr>
          <a:xfrm>
            <a:off x="6051111" y="4319847"/>
            <a:ext cx="640080" cy="640080"/>
          </a:xfrm>
          <a:prstGeom prst="ellipse">
            <a:avLst/>
          </a:prstGeom>
          <a:solidFill>
            <a:srgbClr val="E9EEF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CC0EAEF3-F3BE-3DB3-5A2D-29149FF81A3F}"/>
              </a:ext>
            </a:extLst>
          </p:cNvPr>
          <p:cNvSpPr/>
          <p:nvPr/>
        </p:nvSpPr>
        <p:spPr>
          <a:xfrm>
            <a:off x="6051111" y="4319847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E5C86"/>
                </a:solidFill>
                <a:latin typeface="Tenorite" panose="00000500000000000000" pitchFamily="2" charset="0"/>
                <a:ea typeface="Cambria" pitchFamily="34" charset="-122"/>
              </a:rPr>
              <a:t>4</a:t>
            </a:r>
            <a:endParaRPr lang="en-US" sz="1800" dirty="0">
              <a:latin typeface="Tenorite" panose="00000500000000000000" pitchFamily="2" charset="0"/>
            </a:endParaRPr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7609CE99-CA9A-E7C3-7266-E7FAA2F5D5F1}"/>
              </a:ext>
            </a:extLst>
          </p:cNvPr>
          <p:cNvSpPr/>
          <p:nvPr/>
        </p:nvSpPr>
        <p:spPr>
          <a:xfrm>
            <a:off x="6856893" y="4330931"/>
            <a:ext cx="32292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05000"/>
              </a:lnSpc>
            </a:pPr>
            <a:r>
              <a:rPr lang="es-ES" sz="20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¿Para qué usan internet los negocios que ya lo usan?</a:t>
            </a:r>
          </a:p>
        </p:txBody>
      </p:sp>
      <p:sp>
        <p:nvSpPr>
          <p:cNvPr id="41" name="Shape 8">
            <a:extLst>
              <a:ext uri="{FF2B5EF4-FFF2-40B4-BE49-F238E27FC236}">
                <a16:creationId xmlns:a16="http://schemas.microsoft.com/office/drawing/2014/main" id="{52BDDB56-914D-460D-26F9-FBF253631FB6}"/>
              </a:ext>
            </a:extLst>
          </p:cNvPr>
          <p:cNvSpPr/>
          <p:nvPr/>
        </p:nvSpPr>
        <p:spPr>
          <a:xfrm>
            <a:off x="6051111" y="2665614"/>
            <a:ext cx="640080" cy="640080"/>
          </a:xfrm>
          <a:prstGeom prst="ellipse">
            <a:avLst/>
          </a:prstGeom>
          <a:solidFill>
            <a:srgbClr val="E9EEF5"/>
          </a:solidFill>
          <a:ln/>
        </p:spPr>
        <p:txBody>
          <a:bodyPr/>
          <a:lstStyle/>
          <a:p>
            <a:endParaRPr lang="es-CO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EA40B4DF-0E2A-AB7D-A770-6F903FC206A5}"/>
              </a:ext>
            </a:extLst>
          </p:cNvPr>
          <p:cNvSpPr/>
          <p:nvPr/>
        </p:nvSpPr>
        <p:spPr>
          <a:xfrm>
            <a:off x="6051111" y="2665614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E5C86"/>
                </a:solidFill>
                <a:latin typeface="Tenorite" panose="00000500000000000000" pitchFamily="2" charset="0"/>
                <a:ea typeface="Cambria" pitchFamily="34" charset="-122"/>
              </a:rPr>
              <a:t>3</a:t>
            </a:r>
            <a:endParaRPr lang="en-US" sz="1800" dirty="0">
              <a:latin typeface="Tenorite" panose="000005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El uso de internet se asocia a mayor ingreso</a:t>
            </a:r>
            <a:endParaRPr lang="en-US" sz="2500" dirty="0">
              <a:latin typeface="Tenorite" panose="00000500000000000000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72237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blurRad="127000" dist="381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4181314984"/>
              </p:ext>
            </p:extLst>
          </p:nvPr>
        </p:nvGraphicFramePr>
        <p:xfrm>
          <a:off x="960120" y="1990344"/>
          <a:ext cx="6583680" cy="4090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8458200" y="2089819"/>
            <a:ext cx="31546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Más del 60% de los negocios ya utilizan internet. Quienes lo usan reportan ingresos hasta 2.5x más altos, tanto en meses buenos como malos, y 15 puntos más de formalidad.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79" y="1671412"/>
            <a:ext cx="722376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CO" b="1" noProof="0" dirty="0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Ingreso mensual mediano según uso de internet (millones COP)</a:t>
            </a:r>
            <a:endParaRPr lang="es-CO" b="1" noProof="0" dirty="0">
              <a:latin typeface="Tenorite" panose="00000500000000000000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hape 2">
            <a:extLst>
              <a:ext uri="{FF2B5EF4-FFF2-40B4-BE49-F238E27FC236}">
                <a16:creationId xmlns:a16="http://schemas.microsoft.com/office/drawing/2014/main" id="{B613E3DA-7D38-DB1A-1F16-388B2A17372E}"/>
              </a:ext>
            </a:extLst>
          </p:cNvPr>
          <p:cNvSpPr/>
          <p:nvPr/>
        </p:nvSpPr>
        <p:spPr>
          <a:xfrm>
            <a:off x="640080" y="1252025"/>
            <a:ext cx="7223760" cy="5148775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blurRad="127000" dist="381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graphicFrame>
        <p:nvGraphicFramePr>
          <p:cNvPr id="15" name="Chart 0">
            <a:extLst>
              <a:ext uri="{FF2B5EF4-FFF2-40B4-BE49-F238E27FC236}">
                <a16:creationId xmlns:a16="http://schemas.microsoft.com/office/drawing/2014/main" id="{838EE637-5DFF-04B2-1235-EEB0610B92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06833391"/>
              </p:ext>
            </p:extLst>
          </p:nvPr>
        </p:nvGraphicFramePr>
        <p:xfrm>
          <a:off x="1037705" y="1932549"/>
          <a:ext cx="658368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El </a:t>
            </a:r>
            <a:r>
              <a:rPr lang="en-US" sz="2500" b="1" dirty="0" err="1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tipo</a:t>
            </a:r>
            <a:r>
              <a:rPr lang="en-US" sz="25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en-US" sz="2500" b="1" dirty="0" err="1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actividad</a:t>
            </a:r>
            <a:r>
              <a:rPr lang="en-US" sz="25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500" b="1" dirty="0" err="1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importa</a:t>
            </a:r>
            <a:endParaRPr lang="en-US" sz="2500" dirty="0">
              <a:latin typeface="Tenorite" panose="00000500000000000000" pitchFamily="2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092440" y="2423160"/>
            <a:ext cx="3547872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Con 38.6% de tasa de uso, las tiendas están muy por debajo del promedio del resto de actividades (71.8%). Además, son las que menos venden por internet (13.5%). 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66651" y="1441938"/>
            <a:ext cx="752578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Tasa de uso de internet </a:t>
            </a:r>
            <a:r>
              <a:rPr lang="en-US" b="1" dirty="0" err="1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según</a:t>
            </a:r>
            <a:r>
              <a:rPr lang="en-US" b="1" dirty="0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 err="1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b="1" dirty="0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b="1" dirty="0" err="1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b="1" dirty="0">
              <a:latin typeface="Tenorite" panose="00000500000000000000" pitchFamily="2" charset="0"/>
            </a:endParaRPr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E82B6EC8-E476-B6DD-44D3-A9421935EB15}"/>
              </a:ext>
            </a:extLst>
          </p:cNvPr>
          <p:cNvSpPr/>
          <p:nvPr/>
        </p:nvSpPr>
        <p:spPr>
          <a:xfrm rot="16200000">
            <a:off x="-57442" y="3808242"/>
            <a:ext cx="1715086" cy="2930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% </a:t>
            </a:r>
            <a:r>
              <a:rPr lang="en-US" sz="1600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600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de internet</a:t>
            </a:r>
            <a:endParaRPr lang="en-US" sz="1600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La barrera principal es la percepción, no la habilidad</a:t>
            </a:r>
            <a:endParaRPr lang="en-US" sz="2500" dirty="0">
              <a:latin typeface="Tenorite" panose="00000500000000000000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72237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blurRad="127000" dist="381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390636836"/>
              </p:ext>
            </p:extLst>
          </p:nvPr>
        </p:nvGraphicFramePr>
        <p:xfrm>
          <a:off x="960120" y="2110154"/>
          <a:ext cx="6583680" cy="40163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8056419" y="2778368"/>
            <a:ext cx="3733800" cy="2708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CO" dirty="0">
                <a:solidFill>
                  <a:srgbClr val="002060"/>
                </a:solidFill>
                <a:latin typeface="Tenorite" panose="00000500000000000000" pitchFamily="2" charset="0"/>
                <a:cs typeface="Times New Roman" panose="02020603050405020304" pitchFamily="18" charset="0"/>
              </a:rPr>
              <a:t>La barrera principal no es la habilidad, es la percepción que hay relacionada con el uso de internet.</a:t>
            </a:r>
          </a:p>
          <a:p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Las capacitaciones podrían ayudar, pero no atacan el problema principal: la percepción de utilidad.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4276291A-321E-7346-C351-0A3D51590A0F}"/>
              </a:ext>
            </a:extLst>
          </p:cNvPr>
          <p:cNvSpPr/>
          <p:nvPr/>
        </p:nvSpPr>
        <p:spPr>
          <a:xfrm>
            <a:off x="545123" y="1709224"/>
            <a:ext cx="752578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" b="1" dirty="0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Razones para no usar internet en el negocio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A41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El uso actual se concentra en comunicación, no en ventas</a:t>
            </a:r>
            <a:endParaRPr lang="en-US" sz="2500" dirty="0">
              <a:latin typeface="Tenorite" panose="00000500000000000000" pitchFamily="2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7223760" cy="489204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E3E8EF"/>
            </a:solidFill>
            <a:prstDash val="solid"/>
          </a:ln>
          <a:effectLst>
            <a:outerShdw blurRad="127000" dist="38100" dir="5400000" algn="bl" rotWithShape="0">
              <a:srgbClr val="1B2A41">
                <a:alpha val="10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2706189953"/>
              </p:ext>
            </p:extLst>
          </p:nvPr>
        </p:nvGraphicFramePr>
        <p:xfrm>
          <a:off x="960120" y="1783080"/>
          <a:ext cx="658368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8183880" y="1714500"/>
            <a:ext cx="3733800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CO" dirty="0">
                <a:solidFill>
                  <a:srgbClr val="002060"/>
                </a:solidFill>
                <a:latin typeface="Tenorite" panose="00000500000000000000" pitchFamily="2" charset="0"/>
                <a:cs typeface="Times New Roman" panose="02020603050405020304" pitchFamily="18" charset="0"/>
              </a:rPr>
              <a:t>Con la ayuda de las capacitaciones hay campo en el cual se puede trabajar para aumentar las ventas en los micronegocios.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Comunicación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clientes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y redes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sociales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ya son de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común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solo 5.7% usa banca o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pagos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digitales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, la oportunidad más clara para una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capacitación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específica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.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7223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5B6B82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Para qué usan internet los negocios que ya lo usan (% de usuarios)</a:t>
            </a:r>
            <a:endParaRPr lang="en-US" b="1" dirty="0">
              <a:latin typeface="Tenorite" panose="00000500000000000000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438400" y="80467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kern="0" spc="300" dirty="0">
                <a:solidFill>
                  <a:srgbClr val="00206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CONCLUSIÓN</a:t>
            </a:r>
            <a:endParaRPr lang="en-US" sz="2400" dirty="0">
              <a:solidFill>
                <a:srgbClr val="002060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490472"/>
            <a:ext cx="87008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400" dirty="0">
                <a:solidFill>
                  <a:srgbClr val="002060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Sí vale la </a:t>
            </a:r>
            <a:r>
              <a:rPr lang="en-US" sz="2400" dirty="0" err="1">
                <a:solidFill>
                  <a:srgbClr val="002060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pena</a:t>
            </a:r>
            <a:r>
              <a:rPr lang="en-US" sz="2400" dirty="0">
                <a:solidFill>
                  <a:srgbClr val="002060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400" dirty="0" err="1">
                <a:solidFill>
                  <a:srgbClr val="002060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invertir,pero</a:t>
            </a:r>
            <a:r>
              <a:rPr lang="en-US" sz="2400" dirty="0">
                <a:solidFill>
                  <a:srgbClr val="002060"/>
                </a:solidFill>
                <a:latin typeface="Tenorite" panose="00000500000000000000" pitchFamily="2" charset="0"/>
                <a:ea typeface="Cambria" pitchFamily="34" charset="-122"/>
                <a:cs typeface="Cambria" pitchFamily="34" charset="-120"/>
              </a:rPr>
              <a:t> no en capacitaciones genéricas</a:t>
            </a:r>
            <a:endParaRPr lang="en-US" sz="2400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2578608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Priorizar</a:t>
            </a:r>
            <a:r>
              <a:rPr lang="en-US" b="1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tiendas: 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el segmento más grande y con menor tasa de uso (38.6%).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554480" y="3721608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Atacar la </a:t>
            </a:r>
            <a:r>
              <a:rPr lang="en-US" b="1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percepción</a:t>
            </a:r>
            <a:r>
              <a:rPr lang="en-US" b="1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el 69.1% no usa internet porque no lo cree necesario, no por falta de habilidad.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54480" y="4864608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Enfocar el </a:t>
            </a:r>
            <a:r>
              <a:rPr lang="en-US" b="1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contenido</a:t>
            </a:r>
            <a:r>
              <a:rPr lang="en-US" b="1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dirty="0" err="1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dirty="0">
                <a:solidFill>
                  <a:srgbClr val="002060"/>
                </a:solidFill>
                <a:latin typeface="Tenorite" panose="00000500000000000000" pitchFamily="2" charset="0"/>
                <a:ea typeface="Calibri" pitchFamily="34" charset="-122"/>
                <a:cs typeface="Calibri" pitchFamily="34" charset="-120"/>
              </a:rPr>
              <a:t> banca y pagos digitales (5.7% de adopción), el uso con más espacio de crecimiento.</a:t>
            </a:r>
            <a:endParaRPr lang="en-US" dirty="0">
              <a:solidFill>
                <a:srgbClr val="002060"/>
              </a:solidFill>
              <a:latin typeface="Tenorite" panose="000005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386</Words>
  <Application>Microsoft Office PowerPoint</Application>
  <PresentationFormat>Widescreen</PresentationFormat>
  <Paragraphs>43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ADLaM Display</vt:lpstr>
      <vt:lpstr>Arial</vt:lpstr>
      <vt:lpstr>Cambria</vt:lpstr>
      <vt:lpstr>Tenorite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Manuela Vergara Gomez</cp:lastModifiedBy>
  <cp:revision>2</cp:revision>
  <dcterms:created xsi:type="dcterms:W3CDTF">2026-08-17T22:09:31Z</dcterms:created>
  <dcterms:modified xsi:type="dcterms:W3CDTF">2026-08-17T23:10:58Z</dcterms:modified>
</cp:coreProperties>
</file>